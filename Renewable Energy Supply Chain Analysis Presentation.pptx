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Plus Jakarta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5FD80D-2EE1-46C7-B156-F5FB361AADB4}">
  <a:tblStyle styleId="{355FD80D-2EE1-46C7-B156-F5FB361AAD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1615975"/>
            <a:ext cx="3629025" cy="295275"/>
          </a:xfrm>
          <a:prstGeom prst="roundRect">
            <a:avLst>
              <a:gd fmla="val 50000" name="adj"/>
            </a:avLst>
          </a:prstGeom>
          <a:solidFill>
            <a:srgbClr val="18312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4622750"/>
            <a:ext cx="610359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622750"/>
            <a:ext cx="61035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2790" y="1428750"/>
            <a:ext cx="410720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1840" y="1447800"/>
            <a:ext cx="4069109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95350" y="1673125"/>
            <a:ext cx="3457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1C784"/>
                </a:solidFill>
                <a:latin typeface="Inter"/>
                <a:ea typeface="Inter"/>
                <a:cs typeface="Inter"/>
                <a:sym typeface="Inter"/>
              </a:rPr>
              <a:t>DATA ANALYSIS REPORT • MICROSOFT EXCEL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2101750"/>
            <a:ext cx="65088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Renewable Energy Supply Chain &amp; Logistics Performance</a:t>
            </a:r>
            <a:endParaRPr sz="1300"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765500"/>
            <a:ext cx="61988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Data-driven investigation into route delays, material damage risks, and freight cost overruns using the Google Data Analytics Framework.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4860875"/>
            <a:ext cx="1133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AUTHOR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5051375"/>
            <a:ext cx="1133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Felix Asibor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914525" y="4860875"/>
            <a:ext cx="11525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914525" y="5051375"/>
            <a:ext cx="1152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19/09/2026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086100" y="4860875"/>
            <a:ext cx="2905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SCOPE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086100" y="5051375"/>
            <a:ext cx="2905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300 Shipments (Jan–Sep 2026)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609600" y="3009453"/>
            <a:ext cx="10972800" cy="3391346"/>
          </a:xfrm>
          <a:prstGeom prst="roundRect">
            <a:avLst>
              <a:gd fmla="val 4493" name="adj"/>
            </a:avLst>
          </a:prstGeom>
          <a:solidFill>
            <a:srgbClr val="F8FA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1289595"/>
            <a:ext cx="5372100" cy="1415057"/>
          </a:xfrm>
          <a:prstGeom prst="roundRect">
            <a:avLst>
              <a:gd fmla="val 8077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10300" y="1289595"/>
            <a:ext cx="5372100" cy="1415057"/>
          </a:xfrm>
          <a:prstGeom prst="roundRect">
            <a:avLst>
              <a:gd fmla="val 8077" name="adj"/>
            </a:avLst>
          </a:prstGeom>
          <a:solidFill>
            <a:srgbClr val="FF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1289595"/>
            <a:ext cx="38100" cy="1415057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10300" y="1289595"/>
            <a:ext cx="38100" cy="1415057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85825" y="4333577"/>
            <a:ext cx="3321099" cy="112395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4435524" y="4333577"/>
            <a:ext cx="3321099" cy="112395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7985224" y="4333577"/>
            <a:ext cx="3321099" cy="1123950"/>
          </a:xfrm>
          <a:prstGeom prst="roundRect">
            <a:avLst>
              <a:gd fmla="val 101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Breakdown &amp; 90-Day Improvement Targets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85825" y="3952577"/>
            <a:ext cx="11306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90-DAY OPERATIONAL PERFORMANCE TARGETS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76300" y="1518195"/>
            <a:ext cx="6096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CORE FINDING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76300" y="1756320"/>
            <a:ext cx="49720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Logistics friction is concentrated on specific corridors.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 routes drive peak transit delays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while Delta → Rivers accounts for highest freight cost overruns.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477000" y="1518195"/>
            <a:ext cx="571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DAMAGE VULNERABILITY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477000" y="1756320"/>
            <a:ext cx="49720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Material damage correlates with handling sensitivity rather than route distance.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Monitoring Equipment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records the highest damage rate at 2.23%.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20718" y="4533602"/>
            <a:ext cx="3651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-15%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20718" y="5067002"/>
            <a:ext cx="3651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Average Delay Days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270418" y="4533602"/>
            <a:ext cx="3651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-10%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270418" y="5067002"/>
            <a:ext cx="3651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Material Damage Rate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820118" y="4533602"/>
            <a:ext cx="3651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-10%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820118" y="5067002"/>
            <a:ext cx="3651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Route Cost Variance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5727650" y="2668785"/>
            <a:ext cx="5854749" cy="2352675"/>
          </a:xfrm>
          <a:prstGeom prst="roundRect">
            <a:avLst>
              <a:gd fmla="val 4858" name="adj"/>
            </a:avLst>
          </a:prstGeom>
          <a:solidFill>
            <a:srgbClr val="F8FA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9600" y="2730698"/>
            <a:ext cx="4889450" cy="1038225"/>
          </a:xfrm>
          <a:prstGeom prst="roundRect">
            <a:avLst>
              <a:gd fmla="val 11009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09600" y="3921323"/>
            <a:ext cx="4889450" cy="1038225"/>
          </a:xfrm>
          <a:prstGeom prst="roundRect">
            <a:avLst>
              <a:gd fmla="val 11009" name="adj"/>
            </a:avLst>
          </a:prstGeom>
          <a:solidFill>
            <a:srgbClr val="FF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965775" y="3202185"/>
            <a:ext cx="5378499" cy="190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9600" y="2730698"/>
            <a:ext cx="38100" cy="103822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09600" y="3921323"/>
            <a:ext cx="38100" cy="1038225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95929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149923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1 • ASK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Definition, Stakeholders &amp; Core KPIs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965775" y="2906910"/>
            <a:ext cx="5747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Performance Indicators (KPIs)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8200" y="2921198"/>
            <a:ext cx="5867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Business Question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38200" y="3197423"/>
            <a:ext cx="456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Where are logistics delays, material damage, and cost overruns concentrated across the supply chain network?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8200" y="4111823"/>
            <a:ext cx="5867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Stakeholder Group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8200" y="4388048"/>
            <a:ext cx="456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Operations, Logistics, Procurement, Finance, Project Teams, Suppliers, Transport Partners, Host Communities.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5965775" y="3373635"/>
            <a:ext cx="62262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On-Time Delivery %: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Proportion of shipments arriving on schedule.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965775" y="3678435"/>
            <a:ext cx="62262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Average Delay Days: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Transit days exceeding planned schedules.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965775" y="3983235"/>
            <a:ext cx="62262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Damage Rate %: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Percentage of shipped units damaged in transit.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965775" y="4288035"/>
            <a:ext cx="62262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Freight Cost &amp; Variance (₦):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Actual freight spend vs budgeted baseline.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5965775" y="4596450"/>
            <a:ext cx="561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Total Cost Variance</a:t>
            </a:r>
            <a:r>
              <a:rPr b="1" i="0" lang="en-US" sz="120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Difference between actual freight cost and budgeted freight cost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>
            <a:off x="609600" y="2523083"/>
            <a:ext cx="2229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839194" y="2523083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542680" y="2523083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164687" y="2523083"/>
            <a:ext cx="2417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09600" y="2942183"/>
            <a:ext cx="2229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2839194" y="2942183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4542680" y="2942183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9164687" y="2942183"/>
            <a:ext cx="2417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09600" y="3361283"/>
            <a:ext cx="2229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839194" y="3361283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4542680" y="3361283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9164687" y="3361283"/>
            <a:ext cx="2417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09600" y="3780383"/>
            <a:ext cx="2229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839194" y="3780383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542680" y="3780383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9164687" y="3780383"/>
            <a:ext cx="2417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09600" y="4199483"/>
            <a:ext cx="2229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839194" y="4199483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4542680" y="4199483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9164687" y="4199483"/>
            <a:ext cx="2417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09600" y="4618583"/>
            <a:ext cx="2229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839194" y="4618583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4542680" y="4618583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9164687" y="4618583"/>
            <a:ext cx="2417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09600" y="5037683"/>
            <a:ext cx="2229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2839194" y="5037683"/>
            <a:ext cx="1703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542680" y="5037683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9164687" y="5037683"/>
            <a:ext cx="2417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6"/>
          <p:cNvGraphicFramePr/>
          <p:nvPr/>
        </p:nvGraphicFramePr>
        <p:xfrm>
          <a:off x="609600" y="1708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{355FD80D-2EE1-46C7-B156-F5FB361AADB4}</a:tableStyleId>
              </a:tblPr>
              <a:tblGrid>
                <a:gridCol w="2229600"/>
                <a:gridCol w="1703475"/>
                <a:gridCol w="4622000"/>
                <a:gridCol w="2417700"/>
              </a:tblGrid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Field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Sample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Shipment_ID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 identifier assigned to each shipment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LG-0001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Material_Category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 of renewable material transported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Solar Panels, Batteries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Route (Derived)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Origin State → Destination State corridor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Lagos → Niger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Distance_km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Distance traveled from origin to destination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 km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Delay_Days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 transit days minus planned transit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Damage_Rate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Percentage of shipped units damaged in transit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9"/>
                    </a:solidFill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Cost_Variance_NGN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 freight cost minus budgeted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₦35,000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2 • PREPARE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Overview &amp; Schema Structure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609600" y="1289595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Sample size: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300 shipment records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spanning January to September 2026 across 25 operational fields.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/>
          <p:nvPr/>
        </p:nvSpPr>
        <p:spPr>
          <a:xfrm>
            <a:off x="609600" y="2954535"/>
            <a:ext cx="2600325" cy="1781175"/>
          </a:xfrm>
          <a:prstGeom prst="roundRect">
            <a:avLst>
              <a:gd fmla="val 6417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3400425" y="2954535"/>
            <a:ext cx="2600325" cy="1781175"/>
          </a:xfrm>
          <a:prstGeom prst="roundRect">
            <a:avLst>
              <a:gd fmla="val 6417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191250" y="2954535"/>
            <a:ext cx="2600325" cy="1781175"/>
          </a:xfrm>
          <a:prstGeom prst="roundRect">
            <a:avLst>
              <a:gd fmla="val 6417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8982075" y="2854523"/>
            <a:ext cx="2600325" cy="1981200"/>
          </a:xfrm>
          <a:prstGeom prst="roundRect">
            <a:avLst>
              <a:gd fmla="val 5769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09600" y="2954535"/>
            <a:ext cx="2600325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400425" y="2954535"/>
            <a:ext cx="2600325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191250" y="2954535"/>
            <a:ext cx="2600325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8982075" y="2854523"/>
            <a:ext cx="2600325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24028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9025" y="324028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324028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0675" y="3140273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3 • PROCESS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Cleaning &amp; Quality Control Workflow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838200" y="3611760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Values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838200" y="3907035"/>
            <a:ext cx="2238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Validated critical fields. No shipments dropped due to nulls in secondary fields.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3629025" y="3611760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Deduplication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3629025" y="3907035"/>
            <a:ext cx="2238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Cross-checked Shipment_ID and dates. Duplicate entries purged cleanly.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419850" y="3611760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Outlier Handling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419850" y="3907035"/>
            <a:ext cx="2238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Legitimate high-distance and high-delay records retained to preserve risk signals.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9210675" y="3511748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Validation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9210675" y="3807023"/>
            <a:ext cx="22383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Recalculated Delay_Days, Damage_Rate, and Cost_Variance_% against raw measures.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>
            <a:off x="609600" y="2811660"/>
            <a:ext cx="5372100" cy="2066925"/>
          </a:xfrm>
          <a:prstGeom prst="roundRect">
            <a:avLst>
              <a:gd fmla="val 5529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6210300" y="2906910"/>
            <a:ext cx="5372100" cy="1876425"/>
          </a:xfrm>
          <a:prstGeom prst="roundRect">
            <a:avLst>
              <a:gd fmla="val 6091" name="adj"/>
            </a:avLst>
          </a:prstGeom>
          <a:solidFill>
            <a:srgbClr val="FF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09600" y="2811660"/>
            <a:ext cx="38100" cy="206692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210300" y="2906910"/>
            <a:ext cx="38100" cy="1876425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3 • PROCESS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Transformation &amp; Calculated Engineering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76300" y="3040260"/>
            <a:ext cx="6400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Spatial &amp; Route Groupings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477000" y="3135510"/>
            <a:ext cx="571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Derived Metrics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876300" y="3430785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Route Corridor: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Concatenated Origin_State → Destination_State.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76300" y="3754635"/>
            <a:ext cx="4972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Distance Bands: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Segmented into 0–250 km, 251–500 km, 501–1,000 km, 1,001+ km.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876300" y="4268985"/>
            <a:ext cx="4972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Distance Category: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Short, Medium, Long, and Very Long route classifications.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477000" y="3526035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Delay_Days: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Actual Transit Days minus Planned Transit Days.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477000" y="3849885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Damage_Rate %: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(Units Damaged ÷ Units Shipped) × 100.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477000" y="4173735"/>
            <a:ext cx="4972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Supplier Score: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Composite metric combining delivery, damage, and cost stability.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7017990" y="2992635"/>
            <a:ext cx="4564409" cy="1704975"/>
          </a:xfrm>
          <a:prstGeom prst="roundRect">
            <a:avLst>
              <a:gd fmla="val 6703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7017990" y="2992635"/>
            <a:ext cx="38100" cy="17049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09600" y="3397448"/>
            <a:ext cx="6103590" cy="1524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09600" y="3940373"/>
            <a:ext cx="6103590" cy="1524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09600" y="4483298"/>
            <a:ext cx="6103590" cy="1524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09600" y="5026223"/>
            <a:ext cx="6103590" cy="1524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09600" y="3397448"/>
            <a:ext cx="6103590" cy="152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09600" y="3940373"/>
            <a:ext cx="6103590" cy="152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609600" y="4483298"/>
            <a:ext cx="6103590" cy="152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09600" y="5026223"/>
            <a:ext cx="5187999" cy="152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4 • ANALYZE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Analysis: Concentration of Delivery Delays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09600" y="2511623"/>
            <a:ext cx="619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Delivery delays are not random; they concentrate heavily on specific corridors requiring targeted route management.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7284690" y="3221235"/>
            <a:ext cx="490730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Analytical Insight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7284690" y="3554610"/>
            <a:ext cx="41643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small subset of origin–destination pairs accounts for the vast majority of project schedule slippage. Addressing bottlenecks on these 4 routes resolves primary schedule risk.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09600" y="3159323"/>
            <a:ext cx="1314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Rivers → Niger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5274915" y="3159323"/>
            <a:ext cx="1797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80000"/>
                </a:solidFill>
                <a:latin typeface="Inter"/>
                <a:ea typeface="Inter"/>
                <a:cs typeface="Inter"/>
                <a:sym typeface="Inter"/>
              </a:rPr>
              <a:t>~7.0 Avg Delay Days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609600" y="3702248"/>
            <a:ext cx="142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Oyo → Anambra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5274915" y="3702248"/>
            <a:ext cx="1797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80000"/>
                </a:solidFill>
                <a:latin typeface="Inter"/>
                <a:ea typeface="Inter"/>
                <a:cs typeface="Inter"/>
                <a:sym typeface="Inter"/>
              </a:rPr>
              <a:t>~7.0 Avg Delay Days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09600" y="4245173"/>
            <a:ext cx="1209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Edo → Kwara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5274915" y="4245173"/>
            <a:ext cx="1797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80000"/>
                </a:solidFill>
                <a:latin typeface="Inter"/>
                <a:ea typeface="Inter"/>
                <a:cs typeface="Inter"/>
                <a:sym typeface="Inter"/>
              </a:rPr>
              <a:t>~7.0 Avg Delay Days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609600" y="4788098"/>
            <a:ext cx="128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Lagos → Delta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5246340" y="4788098"/>
            <a:ext cx="18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~6.0 Avg Delay Days</a:t>
            </a:r>
            <a:endParaRPr>
              <a:solidFill>
                <a:srgbClr val="2E7D3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/>
          <p:nvPr/>
        </p:nvSpPr>
        <p:spPr>
          <a:xfrm>
            <a:off x="609600" y="2178248"/>
            <a:ext cx="5372100" cy="3333750"/>
          </a:xfrm>
          <a:prstGeom prst="roundRect">
            <a:avLst>
              <a:gd fmla="val 3428" name="adj"/>
            </a:avLst>
          </a:prstGeom>
          <a:solidFill>
            <a:srgbClr val="FF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6210300" y="2716410"/>
            <a:ext cx="5372100" cy="2257425"/>
          </a:xfrm>
          <a:prstGeom prst="roundRect">
            <a:avLst>
              <a:gd fmla="val 5063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09600" y="2178248"/>
            <a:ext cx="38100" cy="333375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6210300" y="2716410"/>
            <a:ext cx="38100" cy="225742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876300" y="3130748"/>
            <a:ext cx="4876800" cy="1000125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876300" y="4283273"/>
            <a:ext cx="4876800" cy="1000125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4 • ANALYZE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Freight Cost Variance &amp; Overrun Drivers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876300" y="2406848"/>
            <a:ext cx="6400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Highest Cost Variance Corridors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876300" y="2759273"/>
            <a:ext cx="6096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Average freight expenditure exceeding budgeted allocation: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477000" y="2945010"/>
            <a:ext cx="571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Distance vs Cost Relationship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477000" y="3297435"/>
            <a:ext cx="4972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Distance Driver: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Longer distance scales base transit time and fuel freight costs predictably.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477000" y="3830835"/>
            <a:ext cx="4972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Cost Spikes: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Distance alone does NOT explain peak cost overruns; route pricing and demurrage drive spikes.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6477000" y="4364235"/>
            <a:ext cx="4972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Action Area: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Re-negotiate carrier pricing agreements specifically for Delta → Rivers routes.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1038225" y="3292673"/>
            <a:ext cx="56911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Delta → Rivers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1038225" y="3492698"/>
            <a:ext cx="56911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+₦182.4K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1038225" y="3816548"/>
            <a:ext cx="569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Average Cost Overrun per Shipment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1038225" y="4445198"/>
            <a:ext cx="56911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Rivers → Kaduna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1038225" y="4645223"/>
            <a:ext cx="56911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+₦155.4K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1038225" y="4969073"/>
            <a:ext cx="569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Average Cost Overrun per Shipment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/>
          <p:nvPr/>
        </p:nvSpPr>
        <p:spPr>
          <a:xfrm>
            <a:off x="7017990" y="3106935"/>
            <a:ext cx="4564409" cy="1476375"/>
          </a:xfrm>
          <a:prstGeom prst="roundRect">
            <a:avLst>
              <a:gd fmla="val 7741" name="adj"/>
            </a:avLst>
          </a:prstGeom>
          <a:solidFill>
            <a:srgbClr val="FF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7017990" y="3106935"/>
            <a:ext cx="38100" cy="1476375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09600" y="3445073"/>
            <a:ext cx="6103590" cy="133350"/>
          </a:xfrm>
          <a:prstGeom prst="roundRect">
            <a:avLst>
              <a:gd fmla="val 4285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09600" y="3930848"/>
            <a:ext cx="6103590" cy="133350"/>
          </a:xfrm>
          <a:prstGeom prst="roundRect">
            <a:avLst>
              <a:gd fmla="val 4285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609600" y="4416623"/>
            <a:ext cx="6103590" cy="133350"/>
          </a:xfrm>
          <a:prstGeom prst="roundRect">
            <a:avLst>
              <a:gd fmla="val 4285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609600" y="4902398"/>
            <a:ext cx="6103590" cy="133350"/>
          </a:xfrm>
          <a:prstGeom prst="roundRect">
            <a:avLst>
              <a:gd fmla="val 4285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609600" y="3445073"/>
            <a:ext cx="5432077" cy="13335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09600" y="3930848"/>
            <a:ext cx="5126980" cy="13335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609600" y="4416623"/>
            <a:ext cx="5004941" cy="1333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D4A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609600" y="4902398"/>
            <a:ext cx="3784103" cy="1333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4 • ANALYZE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Material Damage Risk Assessment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09600" y="2654498"/>
            <a:ext cx="61988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Smaller, sensitive electronic equipment suffers higher damage rates than bulky structural materials.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7284690" y="3335535"/>
            <a:ext cx="490730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Handling Protocol Priority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7284690" y="3668910"/>
            <a:ext cx="416435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Damage is driven by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packaging adequacy and transport handling</a:t>
            </a: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rather than route mileage. Specialized protective casing is required for electronics.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09600" y="3225998"/>
            <a:ext cx="19169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Monitoring Equipment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5274915" y="3225998"/>
            <a:ext cx="1797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2.23% Damage Rate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09600" y="3711773"/>
            <a:ext cx="17264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Cables &amp; Protection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5313015" y="3711773"/>
            <a:ext cx="1750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2.10% Damage Rate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09600" y="4197548"/>
            <a:ext cx="1409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Hybrid Inverters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5274915" y="4197548"/>
            <a:ext cx="1797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2.07% Damage Rate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609600" y="4683323"/>
            <a:ext cx="1797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Mounting Structures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5303490" y="4683323"/>
            <a:ext cx="1762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1.56% Damage Rate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609600" y="2842170"/>
            <a:ext cx="10972800" cy="3558629"/>
          </a:xfrm>
          <a:prstGeom prst="roundRect">
            <a:avLst>
              <a:gd fmla="val 3211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609600" y="1289595"/>
            <a:ext cx="3505200" cy="1323975"/>
          </a:xfrm>
          <a:prstGeom prst="roundRect">
            <a:avLst>
              <a:gd fmla="val 8633" name="adj"/>
            </a:avLst>
          </a:prstGeom>
          <a:solidFill>
            <a:srgbClr val="F8FAF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4343400" y="1289595"/>
            <a:ext cx="3505200" cy="1323975"/>
          </a:xfrm>
          <a:prstGeom prst="roundRect">
            <a:avLst>
              <a:gd fmla="val 8633" name="adj"/>
            </a:avLst>
          </a:prstGeom>
          <a:solidFill>
            <a:srgbClr val="FFFDF5"/>
          </a:solidFill>
          <a:ln cap="flat" cmpd="sng" w="9525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8077200" y="1289595"/>
            <a:ext cx="3505200" cy="1323975"/>
          </a:xfrm>
          <a:prstGeom prst="roundRect">
            <a:avLst>
              <a:gd fmla="val 8633" name="adj"/>
            </a:avLst>
          </a:prstGeom>
          <a:solidFill>
            <a:srgbClr val="F8FA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09600" y="2842170"/>
            <a:ext cx="38100" cy="355862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 4 • ANALYZE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Supplier Performance Benchmarking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876300" y="4392810"/>
            <a:ext cx="1057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Takeaway: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Performance scores across suppliers remain closely matched. Supplier replacement is not the solution; instead, joint operational reviews and standardized transport guidelines will yield better overall results.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421481" y="1489620"/>
            <a:ext cx="3881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TOP PERFORMER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421481" y="1727745"/>
            <a:ext cx="3881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94.45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421481" y="2223045"/>
            <a:ext cx="3881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SunCore Energy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4155281" y="1489620"/>
            <a:ext cx="3881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LOWEST SCORE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4155281" y="1727745"/>
            <a:ext cx="3881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91.92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4155281" y="2223045"/>
            <a:ext cx="3881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SolarTech Supplies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7889081" y="1489620"/>
            <a:ext cx="3881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SCORE SPREAD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7889081" y="1651545"/>
            <a:ext cx="3881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2.53 pt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7889081" y="2146845"/>
            <a:ext cx="3881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Minimal Separation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/>
          <p:nvPr/>
        </p:nvSpPr>
        <p:spPr>
          <a:xfrm>
            <a:off x="609600" y="1289595"/>
            <a:ext cx="3530649" cy="5111204"/>
          </a:xfrm>
          <a:prstGeom prst="roundRect">
            <a:avLst>
              <a:gd fmla="val 3237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4330749" y="1289595"/>
            <a:ext cx="3530649" cy="5111204"/>
          </a:xfrm>
          <a:prstGeom prst="roundRect">
            <a:avLst>
              <a:gd fmla="val 3237" name="adj"/>
            </a:avLst>
          </a:prstGeom>
          <a:solidFill>
            <a:srgbClr val="FF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8051899" y="1289595"/>
            <a:ext cx="3530649" cy="5111204"/>
          </a:xfrm>
          <a:prstGeom prst="roundRect">
            <a:avLst>
              <a:gd fmla="val 3237" name="adj"/>
            </a:avLst>
          </a:prstGeom>
          <a:solidFill>
            <a:srgbClr val="F8F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609600" y="1289595"/>
            <a:ext cx="3530649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4330749" y="1289595"/>
            <a:ext cx="3530649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8051899" y="1289595"/>
            <a:ext cx="3530649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838200" y="1556295"/>
            <a:ext cx="876300" cy="228600"/>
          </a:xfrm>
          <a:prstGeom prst="roundRect">
            <a:avLst>
              <a:gd fmla="val 25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559349" y="1556295"/>
            <a:ext cx="923925" cy="228600"/>
          </a:xfrm>
          <a:prstGeom prst="roundRect">
            <a:avLst>
              <a:gd fmla="val 25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8280499" y="1556295"/>
            <a:ext cx="923925" cy="228600"/>
          </a:xfrm>
          <a:prstGeom prst="roundRect">
            <a:avLst>
              <a:gd fmla="val 25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PHASES 5 &amp; 6 • SHARE &amp; ACT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90-Day Action Plan &amp; Operational Roadmap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933450" y="1594395"/>
            <a:ext cx="781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DAYS 0–30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838200" y="1899195"/>
            <a:ext cx="40339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Immediate Mitigation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4654599" y="1594395"/>
            <a:ext cx="828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DAYS 31–60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4559349" y="1899195"/>
            <a:ext cx="40339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 Control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8375749" y="1594395"/>
            <a:ext cx="828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DAYS 61–90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8280499" y="1899195"/>
            <a:ext cx="391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 &amp; Scale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838200" y="2232570"/>
            <a:ext cx="384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Audit high-delay routes (Rivers→Niger).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838200" y="2508795"/>
            <a:ext cx="384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Investigate Delta→Rivers cost overruns.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838200" y="2785020"/>
            <a:ext cx="31686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Implement protective casing for Monitoring Equipment.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4559349" y="2232570"/>
            <a:ext cx="384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Establish route transit benchmarks.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4559349" y="2508795"/>
            <a:ext cx="384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Roll out monthly supplier scorecards.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4559349" y="2785020"/>
            <a:ext cx="31686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Launch mandatory transport partner guidelines.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8280499" y="2232570"/>
            <a:ext cx="384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Deploy automated KPI tracking dashboard.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8280499" y="2508795"/>
            <a:ext cx="384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Review baseline targets (-15% delay).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8280499" y="2785020"/>
            <a:ext cx="3841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Embed quarterly logistics governance.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"/>
          <p:cNvSpPr/>
          <p:nvPr/>
        </p:nvSpPr>
        <p:spPr>
          <a:xfrm>
            <a:off x="609600" y="5648176"/>
            <a:ext cx="109728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609600" y="2811660"/>
            <a:ext cx="5334000" cy="1466850"/>
          </a:xfrm>
          <a:prstGeom prst="roundRect">
            <a:avLst>
              <a:gd fmla="val 7792" name="adj"/>
            </a:avLst>
          </a:prstGeom>
          <a:solidFill>
            <a:srgbClr val="1D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6248400" y="2811660"/>
            <a:ext cx="5334000" cy="1466850"/>
          </a:xfrm>
          <a:prstGeom prst="roundRect">
            <a:avLst>
              <a:gd fmla="val 7792" name="adj"/>
            </a:avLst>
          </a:prstGeom>
          <a:solidFill>
            <a:srgbClr val="1D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609600" y="564817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10115550" y="5891063"/>
            <a:ext cx="1466850" cy="352425"/>
          </a:xfrm>
          <a:prstGeom prst="roundRect">
            <a:avLst>
              <a:gd fmla="val 21621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609600" y="2811660"/>
            <a:ext cx="38100" cy="146685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6248400" y="2811660"/>
            <a:ext cx="38100" cy="14668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1C784"/>
                </a:solidFill>
                <a:latin typeface="Inter"/>
                <a:ea typeface="Inter"/>
                <a:cs typeface="Inter"/>
                <a:sym typeface="Inter"/>
              </a:rPr>
              <a:t>CONCLUSION &amp; NEXT STEPS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609600" y="847725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Limitations &amp; Strategic Analytical Scope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10306050" y="5986313"/>
            <a:ext cx="1181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September 2026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876300" y="3040260"/>
            <a:ext cx="6350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0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Analysis Limitations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6515100" y="3040260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1C78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Scope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609600" y="5886301"/>
            <a:ext cx="419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 &amp; Strategic Discussion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09600" y="6086326"/>
            <a:ext cx="4191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Felix Asibor • Renewable Energy Supply Chain Report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876300" y="3354585"/>
            <a:ext cx="6048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Simulated dataset (300 records across 8 months).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876300" y="3611760"/>
            <a:ext cx="6048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Excludes external variables (weather, fuel price spikes).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876300" y="3868935"/>
            <a:ext cx="6048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Lacks qualitative root-cause log data.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6515100" y="3354585"/>
            <a:ext cx="5676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Build predictive ML delay models.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515100" y="3611760"/>
            <a:ext cx="5676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Integrate real-time GPS tracking feeds.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6515100" y="3868935"/>
            <a:ext cx="5676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Expand dataset to multi-year longitudinal scope.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